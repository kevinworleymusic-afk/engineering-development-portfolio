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oboto"/>
      <p:regular r:id="rId22"/>
      <p:bold r:id="rId23"/>
      <p:italic r:id="rId24"/>
      <p:boldItalic r:id="rId25"/>
    </p:embeddedFont>
    <p:embeddedFont>
      <p:font typeface="Average"/>
      <p:regular r:id="rId26"/>
    </p:embeddedFont>
    <p:embeddedFont>
      <p:font typeface="Oswald"/>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verage-regular.fntdata"/><Relationship Id="rId25" Type="http://schemas.openxmlformats.org/officeDocument/2006/relationships/font" Target="fonts/Roboto-boldItalic.fntdata"/><Relationship Id="rId28" Type="http://schemas.openxmlformats.org/officeDocument/2006/relationships/font" Target="fonts/Oswald-bold.fntdata"/><Relationship Id="rId27"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123c5836b5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123c5836b5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123c5836b5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123c5836b5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123c5836b5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123c5836b5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123c5836b5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123c5836b5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123c5836b5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123c5836b5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123c5836b5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123c5836b5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2e55f045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2e55f045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123c5836b5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123c5836b5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123c5836b5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123c5836b5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e55f045f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2e55f045f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123c5836b5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123c5836b5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123c5836b5_0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123c5836b5_0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123c5836b5_0_1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123c5836b5_0_1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123c5836b5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123c5836b5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123c5836b5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123c5836b5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10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0" y="990800"/>
            <a:ext cx="7785300" cy="182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3000">
                <a:latin typeface="Average"/>
                <a:ea typeface="Average"/>
                <a:cs typeface="Average"/>
                <a:sym typeface="Average"/>
              </a:rPr>
              <a:t>Just Noticeable Difference for Detection of Frequency Boosts and Cuts under Loudspeaker and Headphone Conditions</a:t>
            </a:r>
            <a:endParaRPr sz="3000">
              <a:latin typeface="Average"/>
              <a:ea typeface="Average"/>
              <a:cs typeface="Average"/>
              <a:sym typeface="Average"/>
            </a:endParaRPr>
          </a:p>
        </p:txBody>
      </p:sp>
      <p:sp>
        <p:nvSpPr>
          <p:cNvPr id="60" name="Google Shape;60;p13"/>
          <p:cNvSpPr txBox="1"/>
          <p:nvPr>
            <p:ph idx="1" type="subTitle"/>
          </p:nvPr>
        </p:nvSpPr>
        <p:spPr>
          <a:xfrm>
            <a:off x="391925" y="2927225"/>
            <a:ext cx="4255500" cy="8313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Kevin Worley and Forrest Kimbrough</a:t>
            </a:r>
            <a:endParaRPr/>
          </a:p>
        </p:txBody>
      </p:sp>
      <p:pic>
        <p:nvPicPr>
          <p:cNvPr id="61" name="Google Shape;61;p13"/>
          <p:cNvPicPr preferRelativeResize="0"/>
          <p:nvPr/>
        </p:nvPicPr>
        <p:blipFill>
          <a:blip r:embed="rId3">
            <a:alphaModFix/>
          </a:blip>
          <a:stretch>
            <a:fillRect/>
          </a:stretch>
        </p:blipFill>
        <p:spPr>
          <a:xfrm>
            <a:off x="5203450" y="2812100"/>
            <a:ext cx="3602844" cy="2026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1000"/>
                                        <p:tgtEl>
                                          <p:spTgt spid="5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1000"/>
                                        <p:tgtEl>
                                          <p:spTgt spid="6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58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the deal with this study?</a:t>
            </a:r>
            <a:endParaRPr/>
          </a:p>
        </p:txBody>
      </p:sp>
      <p:sp>
        <p:nvSpPr>
          <p:cNvPr id="67" name="Google Shape;67;p14"/>
          <p:cNvSpPr txBox="1"/>
          <p:nvPr>
            <p:ph idx="1" type="body"/>
          </p:nvPr>
        </p:nvSpPr>
        <p:spPr>
          <a:xfrm>
            <a:off x="311700" y="13024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Focus- To find out if there is a difference in ability to detect boosts and cuts in Headphones vs Loudspeakers at various frequencies.</a:t>
            </a:r>
            <a:endParaRPr/>
          </a:p>
          <a:p>
            <a:pPr indent="-342900" lvl="0" marL="457200" rtl="0" algn="l">
              <a:spcBef>
                <a:spcPts val="0"/>
              </a:spcBef>
              <a:spcAft>
                <a:spcPts val="0"/>
              </a:spcAft>
              <a:buSzPts val="1800"/>
              <a:buChar char="●"/>
            </a:pPr>
            <a:r>
              <a:rPr lang="en"/>
              <a:t>Research Questions</a:t>
            </a:r>
            <a:endParaRPr/>
          </a:p>
          <a:p>
            <a:pPr indent="-342900" lvl="0" marL="457200" rtl="0" algn="l">
              <a:spcBef>
                <a:spcPts val="0"/>
              </a:spcBef>
              <a:spcAft>
                <a:spcPts val="0"/>
              </a:spcAft>
              <a:buSzPts val="1800"/>
              <a:buChar char="●"/>
            </a:pPr>
            <a:r>
              <a:rPr lang="en"/>
              <a:t>1.  </a:t>
            </a:r>
            <a:r>
              <a:rPr lang="en"/>
              <a:t>Is there a JND in a listener’s ability to perform an audio task (identifying cuts and boosts) between the loudspeaker and headphone environments?</a:t>
            </a:r>
            <a:endParaRPr/>
          </a:p>
          <a:p>
            <a:pPr indent="-342900" lvl="0" marL="457200" rtl="0" algn="l">
              <a:spcBef>
                <a:spcPts val="0"/>
              </a:spcBef>
              <a:spcAft>
                <a:spcPts val="0"/>
              </a:spcAft>
              <a:buSzPts val="1800"/>
              <a:buChar char="●"/>
            </a:pPr>
            <a:r>
              <a:rPr lang="en"/>
              <a:t>2.  Is there a difference in people’s ability to correctly identify boosts vs. cuts? </a:t>
            </a:r>
            <a:endParaRPr/>
          </a:p>
          <a:p>
            <a:pPr indent="-342900" lvl="0" marL="457200" rtl="0" algn="l">
              <a:spcBef>
                <a:spcPts val="0"/>
              </a:spcBef>
              <a:spcAft>
                <a:spcPts val="0"/>
              </a:spcAft>
              <a:buSzPts val="1800"/>
              <a:buChar char="●"/>
            </a:pPr>
            <a:r>
              <a:rPr lang="en"/>
              <a:t>3.  Where does the threshold lie for a listener’s ability to hear and identify the level of boosts and cuts at various frequencies within samples of pink noise?  </a:t>
            </a:r>
            <a:endParaRPr/>
          </a:p>
          <a:p>
            <a:pPr indent="0" lvl="0" marL="0" rtl="0" algn="l">
              <a:spcBef>
                <a:spcPts val="1200"/>
              </a:spcBef>
              <a:spcAft>
                <a:spcPts val="1200"/>
              </a:spcAft>
              <a:buNone/>
            </a:pPr>
            <a:r>
              <a:t/>
            </a:r>
            <a:endParaRPr/>
          </a:p>
        </p:txBody>
      </p:sp>
      <p:pic>
        <p:nvPicPr>
          <p:cNvPr id="68" name="Google Shape;68;p14"/>
          <p:cNvPicPr preferRelativeResize="0"/>
          <p:nvPr/>
        </p:nvPicPr>
        <p:blipFill>
          <a:blip r:embed="rId3">
            <a:alphaModFix/>
          </a:blip>
          <a:stretch>
            <a:fillRect/>
          </a:stretch>
        </p:blipFill>
        <p:spPr>
          <a:xfrm>
            <a:off x="6121200" y="135799"/>
            <a:ext cx="2159150" cy="1219000"/>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6"/>
                                        </p:tgtEl>
                                        <p:attrNameLst>
                                          <p:attrName>style.visibility</p:attrName>
                                        </p:attrNameLst>
                                      </p:cBhvr>
                                      <p:to>
                                        <p:strVal val="visible"/>
                                      </p:to>
                                    </p:set>
                                    <p:anim calcmode="lin" valueType="num">
                                      <p:cBhvr additive="base">
                                        <p:cTn dur="1000"/>
                                        <p:tgtEl>
                                          <p:spTgt spid="6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 calcmode="lin" valueType="num">
                                      <p:cBhvr additive="base">
                                        <p:cTn dur="1000"/>
                                        <p:tgtEl>
                                          <p:spTgt spid="6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 calcmode="lin" valueType="num">
                                      <p:cBhvr additive="base">
                                        <p:cTn dur="1000"/>
                                        <p:tgtEl>
                                          <p:spTgt spid="6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anim calcmode="lin" valueType="num">
                                      <p:cBhvr additive="base">
                                        <p:cTn dur="1000"/>
                                        <p:tgtEl>
                                          <p:spTgt spid="6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anim calcmode="lin" valueType="num">
                                      <p:cBhvr additive="base">
                                        <p:cTn dur="1000"/>
                                        <p:tgtEl>
                                          <p:spTgt spid="6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4" st="4"/>
                                            </p:txEl>
                                          </p:spTgt>
                                        </p:tgtEl>
                                        <p:attrNameLst>
                                          <p:attrName>style.visibility</p:attrName>
                                        </p:attrNameLst>
                                      </p:cBhvr>
                                      <p:to>
                                        <p:strVal val="visible"/>
                                      </p:to>
                                    </p:set>
                                    <p:anim calcmode="lin" valueType="num">
                                      <p:cBhvr additive="base">
                                        <p:cTn dur="1000"/>
                                        <p:tgtEl>
                                          <p:spTgt spid="6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7">
                                            <p:txEl>
                                              <p:pRg end="5" st="5"/>
                                            </p:txEl>
                                          </p:spTgt>
                                        </p:tgtEl>
                                        <p:attrNameLst>
                                          <p:attrName>style.visibility</p:attrName>
                                        </p:attrNameLst>
                                      </p:cBhvr>
                                      <p:to>
                                        <p:strVal val="visible"/>
                                      </p:to>
                                    </p:set>
                                    <p:anim calcmode="lin" valueType="num">
                                      <p:cBhvr additive="base">
                                        <p:cTn dur="1000"/>
                                        <p:tgtEl>
                                          <p:spTgt spid="67">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should we care????</a:t>
            </a:r>
            <a:endParaRPr/>
          </a:p>
        </p:txBody>
      </p:sp>
      <p:sp>
        <p:nvSpPr>
          <p:cNvPr id="74" name="Google Shape;74;p15"/>
          <p:cNvSpPr txBox="1"/>
          <p:nvPr>
            <p:ph idx="1" type="body"/>
          </p:nvPr>
        </p:nvSpPr>
        <p:spPr>
          <a:xfrm>
            <a:off x="311700" y="1096950"/>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`1.  Why is detecting cuts and boosts relevant?</a:t>
            </a:r>
            <a:endParaRPr/>
          </a:p>
          <a:p>
            <a:pPr indent="-322580" lvl="1" marL="914400" rtl="0" algn="l">
              <a:spcBef>
                <a:spcPts val="0"/>
              </a:spcBef>
              <a:spcAft>
                <a:spcPts val="0"/>
              </a:spcAft>
              <a:buSzPct val="100000"/>
              <a:buChar char="○"/>
            </a:pPr>
            <a:r>
              <a:rPr lang="en" sz="1600">
                <a:highlight>
                  <a:schemeClr val="lt1"/>
                </a:highlight>
              </a:rPr>
              <a:t>Frequency detection is important in audio engineering because it helps to ensure accurate and faithful reproduction of sound across the entire frequency range, which is essential for achieving high-quality sound in headphones and loudspeakers.</a:t>
            </a:r>
            <a:endParaRPr sz="1600">
              <a:highlight>
                <a:schemeClr val="lt1"/>
              </a:highlight>
            </a:endParaRPr>
          </a:p>
          <a:p>
            <a:pPr indent="-322580" lvl="1" marL="914400" rtl="0" algn="l">
              <a:spcBef>
                <a:spcPts val="0"/>
              </a:spcBef>
              <a:spcAft>
                <a:spcPts val="0"/>
              </a:spcAft>
              <a:buSzPct val="100000"/>
              <a:buChar char="○"/>
            </a:pPr>
            <a:r>
              <a:rPr lang="en" sz="1600">
                <a:highlight>
                  <a:schemeClr val="lt1"/>
                </a:highlight>
              </a:rPr>
              <a:t>Ability to ID Boosts/Cuts=Better sense of the frequency spectrum when listening to music </a:t>
            </a:r>
            <a:endParaRPr sz="1600">
              <a:highlight>
                <a:schemeClr val="lt1"/>
              </a:highlight>
            </a:endParaRPr>
          </a:p>
          <a:p>
            <a:pPr indent="-334328" lvl="0" marL="457200" rtl="0" algn="l">
              <a:spcBef>
                <a:spcPts val="0"/>
              </a:spcBef>
              <a:spcAft>
                <a:spcPts val="0"/>
              </a:spcAft>
              <a:buSzPct val="100000"/>
              <a:buChar char="●"/>
            </a:pPr>
            <a:r>
              <a:rPr lang="en"/>
              <a:t>2.  </a:t>
            </a:r>
            <a:r>
              <a:rPr lang="en"/>
              <a:t>$$$ difference between HP’s and LSP’s; is one better or worse than another for someone interested in having a home studio?</a:t>
            </a:r>
            <a:endParaRPr>
              <a:highlight>
                <a:schemeClr val="lt1"/>
              </a:highlight>
            </a:endParaRPr>
          </a:p>
          <a:p>
            <a:pPr indent="-334328" lvl="1" marL="914400" rtl="0" algn="l">
              <a:spcBef>
                <a:spcPts val="0"/>
              </a:spcBef>
              <a:spcAft>
                <a:spcPts val="0"/>
              </a:spcAft>
              <a:buSzPct val="100000"/>
              <a:buChar char="○"/>
            </a:pPr>
            <a:r>
              <a:rPr lang="en" sz="1800">
                <a:highlight>
                  <a:schemeClr val="lt1"/>
                </a:highlight>
              </a:rPr>
              <a:t>Knowing whether or not there is a difference between the two conditions could aid audio engineers in their choice of environment to invest in for their mixing and mastering.</a:t>
            </a:r>
            <a:endParaRPr sz="1800">
              <a:highlight>
                <a:schemeClr val="lt1"/>
              </a:highlight>
            </a:endParaRPr>
          </a:p>
          <a:p>
            <a:pPr indent="-334328" lvl="0" marL="457200" rtl="0" algn="l">
              <a:spcBef>
                <a:spcPts val="0"/>
              </a:spcBef>
              <a:spcAft>
                <a:spcPts val="0"/>
              </a:spcAft>
              <a:buSzPct val="100000"/>
              <a:buChar char="●"/>
            </a:pPr>
            <a:r>
              <a:rPr lang="en">
                <a:highlight>
                  <a:schemeClr val="lt1"/>
                </a:highlight>
              </a:rPr>
              <a:t>3.  More and more consumers are trending towards listening using HP’s in day to day life; are consumers losing anything perceptually with that trend?  </a:t>
            </a:r>
            <a:endParaRPr sz="1800">
              <a:highlight>
                <a:schemeClr val="lt1"/>
              </a:highlight>
            </a:endParaRPr>
          </a:p>
          <a:p>
            <a:pPr indent="0" lvl="0" marL="0" rtl="0" algn="l">
              <a:spcBef>
                <a:spcPts val="1200"/>
              </a:spcBef>
              <a:spcAft>
                <a:spcPts val="1200"/>
              </a:spcAft>
              <a:buNone/>
            </a:pPr>
            <a:r>
              <a:t/>
            </a:r>
            <a:endParaRPr sz="1200">
              <a:solidFill>
                <a:srgbClr val="D1D5DB"/>
              </a:solidFill>
              <a:highlight>
                <a:schemeClr val="lt1"/>
              </a:highlight>
              <a:latin typeface="Roboto"/>
              <a:ea typeface="Roboto"/>
              <a:cs typeface="Roboto"/>
              <a:sym typeface="Roboto"/>
            </a:endParaRPr>
          </a:p>
        </p:txBody>
      </p:sp>
      <p:pic>
        <p:nvPicPr>
          <p:cNvPr id="75" name="Google Shape;75;p15"/>
          <p:cNvPicPr preferRelativeResize="0"/>
          <p:nvPr/>
        </p:nvPicPr>
        <p:blipFill>
          <a:blip r:embed="rId3">
            <a:alphaModFix/>
          </a:blip>
          <a:stretch>
            <a:fillRect/>
          </a:stretch>
        </p:blipFill>
        <p:spPr>
          <a:xfrm>
            <a:off x="5903225" y="197350"/>
            <a:ext cx="2068650" cy="1163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1000"/>
                                        <p:tgtEl>
                                          <p:spTgt spid="7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 calcmode="lin" valueType="num">
                                      <p:cBhvr additive="base">
                                        <p:cTn dur="1000"/>
                                        <p:tgtEl>
                                          <p:spTgt spid="7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anim calcmode="lin" valueType="num">
                                      <p:cBhvr additive="base">
                                        <p:cTn dur="1000"/>
                                        <p:tgtEl>
                                          <p:spTgt spid="7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anim calcmode="lin" valueType="num">
                                      <p:cBhvr additive="base">
                                        <p:cTn dur="1000"/>
                                        <p:tgtEl>
                                          <p:spTgt spid="7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anim calcmode="lin" valueType="num">
                                      <p:cBhvr additive="base">
                                        <p:cTn dur="1000"/>
                                        <p:tgtEl>
                                          <p:spTgt spid="7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anim calcmode="lin" valueType="num">
                                      <p:cBhvr additive="base">
                                        <p:cTn dur="1000"/>
                                        <p:tgtEl>
                                          <p:spTgt spid="7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5" st="5"/>
                                            </p:txEl>
                                          </p:spTgt>
                                        </p:tgtEl>
                                        <p:attrNameLst>
                                          <p:attrName>style.visibility</p:attrName>
                                        </p:attrNameLst>
                                      </p:cBhvr>
                                      <p:to>
                                        <p:strVal val="visible"/>
                                      </p:to>
                                    </p:set>
                                    <p:anim calcmode="lin" valueType="num">
                                      <p:cBhvr additive="base">
                                        <p:cTn dur="1000"/>
                                        <p:tgtEl>
                                          <p:spTgt spid="7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4">
                                            <p:txEl>
                                              <p:pRg end="6" st="6"/>
                                            </p:txEl>
                                          </p:spTgt>
                                        </p:tgtEl>
                                        <p:attrNameLst>
                                          <p:attrName>style.visibility</p:attrName>
                                        </p:attrNameLst>
                                      </p:cBhvr>
                                      <p:to>
                                        <p:strVal val="visible"/>
                                      </p:to>
                                    </p:set>
                                    <p:anim calcmode="lin" valueType="num">
                                      <p:cBhvr additive="base">
                                        <p:cTn dur="1000"/>
                                        <p:tgtEl>
                                          <p:spTgt spid="7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a:blip r:embed="rId3">
            <a:alphaModFix/>
          </a:blip>
          <a:stretch>
            <a:fillRect/>
          </a:stretch>
        </p:blipFill>
        <p:spPr>
          <a:xfrm>
            <a:off x="6224650" y="2191250"/>
            <a:ext cx="2607650" cy="2709275"/>
          </a:xfrm>
          <a:prstGeom prst="rect">
            <a:avLst/>
          </a:prstGeom>
          <a:noFill/>
          <a:ln>
            <a:noFill/>
          </a:ln>
        </p:spPr>
      </p:pic>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Hypotheses</a:t>
            </a:r>
            <a:endParaRPr/>
          </a:p>
        </p:txBody>
      </p:sp>
      <p:sp>
        <p:nvSpPr>
          <p:cNvPr id="82" name="Google Shape;82;p16"/>
          <p:cNvSpPr txBox="1"/>
          <p:nvPr>
            <p:ph idx="1" type="body"/>
          </p:nvPr>
        </p:nvSpPr>
        <p:spPr>
          <a:xfrm>
            <a:off x="311700" y="1152475"/>
            <a:ext cx="5842500" cy="3416400"/>
          </a:xfrm>
          <a:prstGeom prst="rect">
            <a:avLst/>
          </a:prstGeom>
        </p:spPr>
        <p:txBody>
          <a:bodyPr anchorCtr="0" anchor="t" bIns="91425" lIns="91425" spcFirstLastPara="1" rIns="91425" wrap="square" tIns="91425">
            <a:normAutofit fontScale="92500" lnSpcReduction="20000"/>
          </a:bodyPr>
          <a:lstStyle/>
          <a:p>
            <a:pPr indent="-357823" lvl="0" marL="457200" rtl="0" algn="l">
              <a:spcBef>
                <a:spcPts val="0"/>
              </a:spcBef>
              <a:spcAft>
                <a:spcPts val="0"/>
              </a:spcAft>
              <a:buSzPct val="122222"/>
              <a:buChar char="●"/>
            </a:pPr>
            <a:r>
              <a:rPr lang="en">
                <a:solidFill>
                  <a:schemeClr val="lt2"/>
                </a:solidFill>
              </a:rPr>
              <a:t> Null </a:t>
            </a:r>
            <a:r>
              <a:rPr lang="en">
                <a:solidFill>
                  <a:schemeClr val="lt2"/>
                </a:solidFill>
              </a:rPr>
              <a:t>Hypothesis(ø)˜</a:t>
            </a:r>
            <a:r>
              <a:rPr lang="en">
                <a:solidFill>
                  <a:schemeClr val="lt2"/>
                </a:solidFill>
              </a:rPr>
              <a:t>-</a:t>
            </a:r>
            <a:r>
              <a:rPr lang="en">
                <a:solidFill>
                  <a:schemeClr val="lt2"/>
                </a:solidFill>
                <a:highlight>
                  <a:schemeClr val="lt1"/>
                </a:highlight>
              </a:rPr>
              <a:t>Using the same sound tests on both loudspeakers and headphones, there is not a significant difference in how well they can hear frequencies.</a:t>
            </a:r>
            <a:endParaRPr>
              <a:solidFill>
                <a:schemeClr val="lt2"/>
              </a:solidFill>
              <a:highlight>
                <a:schemeClr val="lt1"/>
              </a:highlight>
            </a:endParaRPr>
          </a:p>
          <a:p>
            <a:pPr indent="0" lvl="0" marL="457200" rtl="0" algn="l">
              <a:spcBef>
                <a:spcPts val="1200"/>
              </a:spcBef>
              <a:spcAft>
                <a:spcPts val="0"/>
              </a:spcAft>
              <a:buNone/>
            </a:pPr>
            <a:r>
              <a:t/>
            </a:r>
            <a:endParaRPr>
              <a:solidFill>
                <a:schemeClr val="lt2"/>
              </a:solidFill>
              <a:highlight>
                <a:schemeClr val="lt1"/>
              </a:highlight>
            </a:endParaRPr>
          </a:p>
          <a:p>
            <a:pPr indent="-334328" lvl="0" marL="457200" rtl="0" algn="l">
              <a:spcBef>
                <a:spcPts val="1200"/>
              </a:spcBef>
              <a:spcAft>
                <a:spcPts val="0"/>
              </a:spcAft>
              <a:buClr>
                <a:schemeClr val="lt2"/>
              </a:buClr>
              <a:buSzPct val="100000"/>
              <a:buChar char="●"/>
            </a:pPr>
            <a:r>
              <a:rPr lang="en">
                <a:solidFill>
                  <a:schemeClr val="lt2"/>
                </a:solidFill>
                <a:highlight>
                  <a:schemeClr val="lt1"/>
                </a:highlight>
              </a:rPr>
              <a:t>Hypothesis-</a:t>
            </a:r>
            <a:r>
              <a:rPr lang="en">
                <a:solidFill>
                  <a:schemeClr val="lt2"/>
                </a:solidFill>
                <a:highlight>
                  <a:schemeClr val="lt1"/>
                </a:highlight>
              </a:rPr>
              <a:t>Using the same sound tests on both loudspeakers and headphones, participants will identify the boost or cuts significantly better with headphones over loudspeakers.</a:t>
            </a:r>
            <a:endParaRPr>
              <a:solidFill>
                <a:schemeClr val="lt2"/>
              </a:solidFill>
              <a:highlight>
                <a:schemeClr val="lt1"/>
              </a:highlight>
            </a:endParaRPr>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1000"/>
                                        <p:tgtEl>
                                          <p:spTgt spid="8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Variables of Interest</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Independent Variable</a:t>
            </a:r>
            <a:endParaRPr/>
          </a:p>
          <a:p>
            <a:pPr indent="-317500" lvl="1" marL="914400" rtl="0" algn="l">
              <a:lnSpc>
                <a:spcPct val="100000"/>
              </a:lnSpc>
              <a:spcBef>
                <a:spcPts val="0"/>
              </a:spcBef>
              <a:spcAft>
                <a:spcPts val="0"/>
              </a:spcAft>
              <a:buSzPts val="1400"/>
              <a:buChar char="○"/>
            </a:pPr>
            <a:r>
              <a:rPr lang="en"/>
              <a:t>HP vs. Loudspeaker</a:t>
            </a:r>
            <a:endParaRPr/>
          </a:p>
          <a:p>
            <a:pPr indent="-317500" lvl="1" marL="914400" rtl="0" algn="l">
              <a:lnSpc>
                <a:spcPct val="100000"/>
              </a:lnSpc>
              <a:spcBef>
                <a:spcPts val="0"/>
              </a:spcBef>
              <a:spcAft>
                <a:spcPts val="0"/>
              </a:spcAft>
              <a:buSzPts val="1400"/>
              <a:buChar char="○"/>
            </a:pPr>
            <a:r>
              <a:rPr lang="en"/>
              <a:t>EQ Boost and Cuts in the following frequencies of a pink noise sample: 1kHz, 500Hz, 250Hz.</a:t>
            </a:r>
            <a:endParaRPr/>
          </a:p>
          <a:p>
            <a:pPr indent="-317500" lvl="1" marL="914400" rtl="0" algn="l">
              <a:lnSpc>
                <a:spcPct val="100000"/>
              </a:lnSpc>
              <a:spcBef>
                <a:spcPts val="0"/>
              </a:spcBef>
              <a:spcAft>
                <a:spcPts val="0"/>
              </a:spcAft>
              <a:buSzPts val="1400"/>
              <a:buChar char="○"/>
            </a:pPr>
            <a:r>
              <a:rPr lang="en"/>
              <a:t>dB level Boost and Cuts of 2, 4, 6, 8 dB</a:t>
            </a:r>
            <a:endParaRPr/>
          </a:p>
          <a:p>
            <a:pPr indent="-342900" lvl="0" marL="457200" rtl="0" algn="l">
              <a:spcBef>
                <a:spcPts val="0"/>
              </a:spcBef>
              <a:spcAft>
                <a:spcPts val="0"/>
              </a:spcAft>
              <a:buSzPts val="1800"/>
              <a:buChar char="●"/>
            </a:pPr>
            <a:r>
              <a:rPr lang="en"/>
              <a:t>Dependent Variable</a:t>
            </a:r>
            <a:endParaRPr/>
          </a:p>
          <a:p>
            <a:pPr indent="-317500" lvl="1" marL="914400" rtl="0" algn="l">
              <a:spcBef>
                <a:spcPts val="0"/>
              </a:spcBef>
              <a:spcAft>
                <a:spcPts val="0"/>
              </a:spcAft>
              <a:buSzPts val="1400"/>
              <a:buChar char="○"/>
            </a:pPr>
            <a:r>
              <a:rPr lang="en"/>
              <a:t>Participant Response(correct/incorrect)-Binomial Data</a:t>
            </a:r>
            <a:endParaRPr/>
          </a:p>
          <a:p>
            <a:pPr indent="-342900" lvl="0" marL="457200" rtl="0" algn="l">
              <a:spcBef>
                <a:spcPts val="0"/>
              </a:spcBef>
              <a:spcAft>
                <a:spcPts val="0"/>
              </a:spcAft>
              <a:buSzPts val="1800"/>
              <a:buChar char="●"/>
            </a:pPr>
            <a:r>
              <a:rPr lang="en"/>
              <a:t>How did we analyze our data? </a:t>
            </a:r>
            <a:endParaRPr/>
          </a:p>
          <a:p>
            <a:pPr indent="-317500" lvl="1" marL="914400" rtl="0" algn="l">
              <a:spcBef>
                <a:spcPts val="0"/>
              </a:spcBef>
              <a:spcAft>
                <a:spcPts val="0"/>
              </a:spcAft>
              <a:buSzPts val="1400"/>
              <a:buChar char="○"/>
            </a:pPr>
            <a:r>
              <a:rPr lang="en"/>
              <a:t>Non-parametric ANOVA to compare data</a:t>
            </a:r>
            <a:endParaRPr/>
          </a:p>
          <a:p>
            <a:pPr indent="-317500" lvl="1" marL="914400" rtl="0" algn="l">
              <a:spcBef>
                <a:spcPts val="0"/>
              </a:spcBef>
              <a:spcAft>
                <a:spcPts val="0"/>
              </a:spcAft>
              <a:buSzPts val="1400"/>
              <a:buChar char="○"/>
            </a:pPr>
            <a:r>
              <a:rPr lang="en"/>
              <a:t>Wilcoxon Matched Paired Test ( Non-parametric T-Test) for compare data</a:t>
            </a:r>
            <a:endParaRPr/>
          </a:p>
          <a:p>
            <a:pPr indent="-317500" lvl="1" marL="914400" rtl="0" algn="l">
              <a:spcBef>
                <a:spcPts val="0"/>
              </a:spcBef>
              <a:spcAft>
                <a:spcPts val="0"/>
              </a:spcAft>
              <a:buSzPts val="1400"/>
              <a:buChar char="○"/>
            </a:pPr>
            <a:r>
              <a:rPr lang="en"/>
              <a:t>Descriptive Statistic Test to gather averages</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1000"/>
                                        <p:tgtEl>
                                          <p:spTgt spid="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anim calcmode="lin" valueType="num">
                                      <p:cBhvr additive="base">
                                        <p:cTn dur="1000"/>
                                        <p:tgtEl>
                                          <p:spTgt spid="8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anim calcmode="lin" valueType="num">
                                      <p:cBhvr additive="base">
                                        <p:cTn dur="1000"/>
                                        <p:tgtEl>
                                          <p:spTgt spid="8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anim calcmode="lin" valueType="num">
                                      <p:cBhvr additive="base">
                                        <p:cTn dur="1000"/>
                                        <p:tgtEl>
                                          <p:spTgt spid="8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anim calcmode="lin" valueType="num">
                                      <p:cBhvr additive="base">
                                        <p:cTn dur="1000"/>
                                        <p:tgtEl>
                                          <p:spTgt spid="8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anim calcmode="lin" valueType="num">
                                      <p:cBhvr additive="base">
                                        <p:cTn dur="1000"/>
                                        <p:tgtEl>
                                          <p:spTgt spid="8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anim calcmode="lin" valueType="num">
                                      <p:cBhvr additive="base">
                                        <p:cTn dur="1000"/>
                                        <p:tgtEl>
                                          <p:spTgt spid="8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anim calcmode="lin" valueType="num">
                                      <p:cBhvr additive="base">
                                        <p:cTn dur="1000"/>
                                        <p:tgtEl>
                                          <p:spTgt spid="88">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anim calcmode="lin" valueType="num">
                                      <p:cBhvr additive="base">
                                        <p:cTn dur="1000"/>
                                        <p:tgtEl>
                                          <p:spTgt spid="88">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8" st="8"/>
                                            </p:txEl>
                                          </p:spTgt>
                                        </p:tgtEl>
                                        <p:attrNameLst>
                                          <p:attrName>style.visibility</p:attrName>
                                        </p:attrNameLst>
                                      </p:cBhvr>
                                      <p:to>
                                        <p:strVal val="visible"/>
                                      </p:to>
                                    </p:set>
                                    <p:anim calcmode="lin" valueType="num">
                                      <p:cBhvr additive="base">
                                        <p:cTn dur="1000"/>
                                        <p:tgtEl>
                                          <p:spTgt spid="88">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9" st="9"/>
                                            </p:txEl>
                                          </p:spTgt>
                                        </p:tgtEl>
                                        <p:attrNameLst>
                                          <p:attrName>style.visibility</p:attrName>
                                        </p:attrNameLst>
                                      </p:cBhvr>
                                      <p:to>
                                        <p:strVal val="visible"/>
                                      </p:to>
                                    </p:set>
                                    <p:anim calcmode="lin" valueType="num">
                                      <p:cBhvr additive="base">
                                        <p:cTn dur="1000"/>
                                        <p:tgtEl>
                                          <p:spTgt spid="88">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8">
                                            <p:txEl>
                                              <p:pRg end="10" st="10"/>
                                            </p:txEl>
                                          </p:spTgt>
                                        </p:tgtEl>
                                        <p:attrNameLst>
                                          <p:attrName>style.visibility</p:attrName>
                                        </p:attrNameLst>
                                      </p:cBhvr>
                                      <p:to>
                                        <p:strVal val="visible"/>
                                      </p:to>
                                    </p:set>
                                    <p:anim calcmode="lin" valueType="num">
                                      <p:cBhvr additive="base">
                                        <p:cTn dur="1000"/>
                                        <p:tgtEl>
                                          <p:spTgt spid="88">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Stimuli</a:t>
            </a:r>
            <a:endParaRPr/>
          </a:p>
        </p:txBody>
      </p:sp>
      <p:sp>
        <p:nvSpPr>
          <p:cNvPr id="94" name="Google Shape;9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our Stimuli:</a:t>
            </a:r>
            <a:endParaRPr/>
          </a:p>
          <a:p>
            <a:pPr indent="-342900" lvl="0" marL="457200" rtl="0" algn="l">
              <a:spcBef>
                <a:spcPts val="1200"/>
              </a:spcBef>
              <a:spcAft>
                <a:spcPts val="0"/>
              </a:spcAft>
              <a:buSzPts val="1800"/>
              <a:buChar char="●"/>
            </a:pPr>
            <a:r>
              <a:rPr lang="en"/>
              <a:t>Participants heard two bursts of pink noise per trial, the first was the reference with no attenuation, and the second one was changed based on a boost or cut at a given frequency. </a:t>
            </a:r>
            <a:endParaRPr/>
          </a:p>
          <a:p>
            <a:pPr indent="-342900" lvl="0" marL="457200" rtl="0" algn="l">
              <a:spcBef>
                <a:spcPts val="0"/>
              </a:spcBef>
              <a:spcAft>
                <a:spcPts val="0"/>
              </a:spcAft>
              <a:buSzPts val="1800"/>
              <a:buChar char="●"/>
            </a:pPr>
            <a:r>
              <a:rPr lang="en"/>
              <a:t>Frequencies altered: 1kHz(high), 500 Hz(mid), 250 Hz(low).</a:t>
            </a:r>
            <a:endParaRPr/>
          </a:p>
          <a:p>
            <a:pPr indent="-342900" lvl="0" marL="457200" rtl="0" algn="l">
              <a:spcBef>
                <a:spcPts val="0"/>
              </a:spcBef>
              <a:spcAft>
                <a:spcPts val="0"/>
              </a:spcAft>
              <a:buSzPts val="1800"/>
              <a:buChar char="●"/>
            </a:pPr>
            <a:r>
              <a:rPr lang="en"/>
              <a:t>For the selected frequencies, each were boosted or cut by 0(control), 2, 4, 6, 8 dB.</a:t>
            </a:r>
            <a:endParaRPr/>
          </a:p>
          <a:p>
            <a:pPr indent="-342900" lvl="0" marL="457200" rtl="0" algn="l">
              <a:spcBef>
                <a:spcPts val="0"/>
              </a:spcBef>
              <a:spcAft>
                <a:spcPts val="0"/>
              </a:spcAft>
              <a:buSzPts val="1800"/>
              <a:buChar char="●"/>
            </a:pPr>
            <a:r>
              <a:rPr lang="en"/>
              <a:t>30 samples in all were created; the samples were presented to the </a:t>
            </a:r>
            <a:r>
              <a:rPr lang="en"/>
              <a:t>participants in a random order per set.</a:t>
            </a:r>
            <a:r>
              <a:rPr lang="en"/>
              <a:t> </a:t>
            </a:r>
            <a:endParaRPr/>
          </a:p>
          <a:p>
            <a:pPr indent="-342900" lvl="0" marL="457200" rtl="0" algn="l">
              <a:spcBef>
                <a:spcPts val="0"/>
              </a:spcBef>
              <a:spcAft>
                <a:spcPts val="0"/>
              </a:spcAft>
              <a:buSzPts val="1800"/>
              <a:buChar char="●"/>
            </a:pPr>
            <a:r>
              <a:rPr lang="en"/>
              <a:t>5 Sets in all were presented.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was the Procedure of our Listening Test?</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en"/>
              <a:t>Subjects were asked to file into the anechoic chamber, and take a seat.</a:t>
            </a:r>
            <a:endParaRPr/>
          </a:p>
          <a:p>
            <a:pPr indent="-334328" lvl="0" marL="457200" rtl="0" algn="l">
              <a:spcBef>
                <a:spcPts val="0"/>
              </a:spcBef>
              <a:spcAft>
                <a:spcPts val="0"/>
              </a:spcAft>
              <a:buSzPct val="100000"/>
              <a:buChar char="●"/>
            </a:pPr>
            <a:r>
              <a:rPr lang="en"/>
              <a:t>Each subject was given a clipboard with a stack of scantrons and were asked to bubble in their name, side number (1 or 2), and Set number for each scantron.</a:t>
            </a:r>
            <a:endParaRPr/>
          </a:p>
          <a:p>
            <a:pPr indent="-334328" lvl="0" marL="457200" rtl="0" algn="l">
              <a:spcBef>
                <a:spcPts val="0"/>
              </a:spcBef>
              <a:spcAft>
                <a:spcPts val="0"/>
              </a:spcAft>
              <a:buSzPct val="100000"/>
              <a:buChar char="●"/>
            </a:pPr>
            <a:r>
              <a:rPr lang="en"/>
              <a:t>The subjects were asked to identify what they thought the dB level of the Boost or Cut was with the following choices: </a:t>
            </a:r>
            <a:endParaRPr/>
          </a:p>
          <a:p>
            <a:pPr indent="0" lvl="0" marL="457200" rtl="0" algn="l">
              <a:spcBef>
                <a:spcPts val="1200"/>
              </a:spcBef>
              <a:spcAft>
                <a:spcPts val="0"/>
              </a:spcAft>
              <a:buNone/>
            </a:pPr>
            <a:r>
              <a:rPr lang="en"/>
              <a:t>A) 0dB B) 2dB, C) 4dB, D) 6dB, E) 8dB</a:t>
            </a:r>
            <a:endParaRPr/>
          </a:p>
          <a:p>
            <a:pPr indent="-334328" lvl="0" marL="457200" rtl="0" algn="l">
              <a:spcBef>
                <a:spcPts val="1200"/>
              </a:spcBef>
              <a:spcAft>
                <a:spcPts val="0"/>
              </a:spcAft>
              <a:buSzPct val="100000"/>
              <a:buChar char="●"/>
            </a:pPr>
            <a:r>
              <a:rPr lang="en"/>
              <a:t>PARTICIPANTS DID NOT NEED TO IDENTIFY FREQUENCY</a:t>
            </a:r>
            <a:endParaRPr/>
          </a:p>
          <a:p>
            <a:pPr indent="-334328" lvl="0" marL="457200" rtl="0" algn="l">
              <a:spcBef>
                <a:spcPts val="0"/>
              </a:spcBef>
              <a:spcAft>
                <a:spcPts val="0"/>
              </a:spcAft>
              <a:buSzPct val="100000"/>
              <a:buChar char="●"/>
            </a:pPr>
            <a:r>
              <a:rPr lang="en"/>
              <a:t>In order to eliminate as much bias as possible, the participants went back and forth every 15 trials between the headphone and loudspeaker conditions (decided based on what side of the room the subject was sitting as to where they started; taking breaks every 15 trials). </a:t>
            </a:r>
            <a:endParaRPr/>
          </a:p>
          <a:p>
            <a:pPr indent="-334328" lvl="0" marL="457200" rtl="0" algn="l">
              <a:spcBef>
                <a:spcPts val="0"/>
              </a:spcBef>
              <a:spcAft>
                <a:spcPts val="0"/>
              </a:spcAft>
              <a:buSzPct val="100000"/>
              <a:buChar char="●"/>
            </a:pPr>
            <a:r>
              <a:rPr lang="en"/>
              <a:t>Each</a:t>
            </a:r>
            <a:r>
              <a:rPr lang="en"/>
              <a:t> subject performed this task a total of 150 times in the various conditions.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 calcmode="lin" valueType="num">
                                      <p:cBhvr additive="base">
                                        <p:cTn dur="1000"/>
                                        <p:tgtEl>
                                          <p:spTgt spid="10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 calcmode="lin" valueType="num">
                                      <p:cBhvr additive="base">
                                        <p:cTn dur="1000"/>
                                        <p:tgtEl>
                                          <p:spTgt spid="10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 calcmode="lin" valueType="num">
                                      <p:cBhvr additive="base">
                                        <p:cTn dur="1000"/>
                                        <p:tgtEl>
                                          <p:spTgt spid="10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 calcmode="lin" valueType="num">
                                      <p:cBhvr additive="base">
                                        <p:cTn dur="1000"/>
                                        <p:tgtEl>
                                          <p:spTgt spid="10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anim calcmode="lin" valueType="num">
                                      <p:cBhvr additive="base">
                                        <p:cTn dur="1000"/>
                                        <p:tgtEl>
                                          <p:spTgt spid="100">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anim calcmode="lin" valueType="num">
                                      <p:cBhvr additive="base">
                                        <p:cTn dur="1000"/>
                                        <p:tgtEl>
                                          <p:spTgt spid="100">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anim calcmode="lin" valueType="num">
                                      <p:cBhvr additive="base">
                                        <p:cTn dur="1000"/>
                                        <p:tgtEl>
                                          <p:spTgt spid="100">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20"/>
          <p:cNvPicPr preferRelativeResize="0"/>
          <p:nvPr/>
        </p:nvPicPr>
        <p:blipFill>
          <a:blip r:embed="rId3">
            <a:alphaModFix/>
          </a:blip>
          <a:stretch>
            <a:fillRect/>
          </a:stretch>
        </p:blipFill>
        <p:spPr>
          <a:xfrm rot="10800000">
            <a:off x="1342299" y="156575"/>
            <a:ext cx="6220626" cy="4665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Takeaways</a:t>
            </a:r>
            <a:endParaRPr/>
          </a:p>
        </p:txBody>
      </p:sp>
      <p:sp>
        <p:nvSpPr>
          <p:cNvPr id="111" name="Google Shape;111;p21"/>
          <p:cNvSpPr txBox="1"/>
          <p:nvPr>
            <p:ph idx="1" type="body"/>
          </p:nvPr>
        </p:nvSpPr>
        <p:spPr>
          <a:xfrm>
            <a:off x="133200" y="1108775"/>
            <a:ext cx="4438800" cy="340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We are not very good at it! :( </a:t>
            </a:r>
            <a:endParaRPr/>
          </a:p>
          <a:p>
            <a:pPr indent="0" lvl="0" marL="0" rtl="0" algn="l">
              <a:spcBef>
                <a:spcPts val="1200"/>
              </a:spcBef>
              <a:spcAft>
                <a:spcPts val="0"/>
              </a:spcAft>
              <a:buNone/>
            </a:pPr>
            <a:r>
              <a:rPr lang="en"/>
              <a:t>2.  Appears people seem to perform better with boosts than cuts (but is it significant?). </a:t>
            </a:r>
            <a:endParaRPr/>
          </a:p>
          <a:p>
            <a:pPr indent="0" lvl="0" marL="0" rtl="0" algn="l">
              <a:spcBef>
                <a:spcPts val="1200"/>
              </a:spcBef>
              <a:spcAft>
                <a:spcPts val="0"/>
              </a:spcAft>
              <a:buNone/>
            </a:pPr>
            <a:r>
              <a:rPr lang="en"/>
              <a:t>3.  Did we find a threshold in the data for human performance of the task based on these performance averages? (not sure)</a:t>
            </a:r>
            <a:endParaRPr/>
          </a:p>
          <a:p>
            <a:pPr indent="0" lvl="0" marL="0" rtl="0" algn="l">
              <a:spcBef>
                <a:spcPts val="1200"/>
              </a:spcBef>
              <a:spcAft>
                <a:spcPts val="1200"/>
              </a:spcAft>
              <a:buNone/>
            </a:pPr>
            <a:r>
              <a:rPr lang="en"/>
              <a:t>4.  What about HP vs LSP?</a:t>
            </a:r>
            <a:endParaRPr/>
          </a:p>
        </p:txBody>
      </p:sp>
      <p:pic>
        <p:nvPicPr>
          <p:cNvPr id="112" name="Google Shape;112;p21"/>
          <p:cNvPicPr preferRelativeResize="0"/>
          <p:nvPr/>
        </p:nvPicPr>
        <p:blipFill>
          <a:blip r:embed="rId3">
            <a:alphaModFix/>
          </a:blip>
          <a:stretch>
            <a:fillRect/>
          </a:stretch>
        </p:blipFill>
        <p:spPr>
          <a:xfrm>
            <a:off x="5186375" y="2294299"/>
            <a:ext cx="3645925" cy="2586580"/>
          </a:xfrm>
          <a:prstGeom prst="rect">
            <a:avLst/>
          </a:prstGeom>
          <a:noFill/>
          <a:ln>
            <a:noFill/>
          </a:ln>
        </p:spPr>
      </p:pic>
      <p:pic>
        <p:nvPicPr>
          <p:cNvPr id="113" name="Google Shape;113;p21"/>
          <p:cNvPicPr preferRelativeResize="0"/>
          <p:nvPr/>
        </p:nvPicPr>
        <p:blipFill>
          <a:blip r:embed="rId4">
            <a:alphaModFix/>
          </a:blip>
          <a:stretch>
            <a:fillRect/>
          </a:stretch>
        </p:blipFill>
        <p:spPr>
          <a:xfrm>
            <a:off x="5186375" y="156800"/>
            <a:ext cx="3645913" cy="2082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1000"/>
                                        <p:tgtEl>
                                          <p:spTgt spid="11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Headphones vs. Loudspeaker?</a:t>
            </a:r>
            <a:endParaRPr/>
          </a:p>
        </p:txBody>
      </p:sp>
      <p:sp>
        <p:nvSpPr>
          <p:cNvPr id="119" name="Google Shape;119;p22"/>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 1) Is there a difference between Headphones and Loudspeakers for </a:t>
            </a:r>
            <a:r>
              <a:rPr lang="en"/>
              <a:t>frequency</a:t>
            </a:r>
            <a:r>
              <a:rPr lang="en"/>
              <a:t> detection? </a:t>
            </a:r>
            <a:endParaRPr/>
          </a:p>
          <a:p>
            <a:pPr indent="0" lvl="0" marL="0" rtl="0" algn="l">
              <a:spcBef>
                <a:spcPts val="1200"/>
              </a:spcBef>
              <a:spcAft>
                <a:spcPts val="0"/>
              </a:spcAft>
              <a:buNone/>
            </a:pPr>
            <a:r>
              <a:rPr lang="en"/>
              <a:t>With the data collected from the experiment it was determined that that there was no difference </a:t>
            </a:r>
            <a:r>
              <a:rPr lang="en"/>
              <a:t>between</a:t>
            </a:r>
            <a:r>
              <a:rPr lang="en"/>
              <a:t> Headphones and Loudspeakers.</a:t>
            </a:r>
            <a:endParaRPr/>
          </a:p>
          <a:p>
            <a:pPr indent="0" lvl="0" marL="0" rtl="0" algn="l">
              <a:spcBef>
                <a:spcPts val="1200"/>
              </a:spcBef>
              <a:spcAft>
                <a:spcPts val="1200"/>
              </a:spcAft>
              <a:buNone/>
            </a:pPr>
            <a:r>
              <a:rPr lang="en"/>
              <a:t>We </a:t>
            </a:r>
            <a:r>
              <a:rPr lang="en"/>
              <a:t>ran an ANOVA, and it was determined that there was no significant difference between Headphones and Loudspeakers (</a:t>
            </a:r>
            <a:r>
              <a:rPr i="1" lang="en"/>
              <a:t>X2 = .07, n = 900, p = .73).</a:t>
            </a:r>
            <a:endParaRPr i="1"/>
          </a:p>
        </p:txBody>
      </p:sp>
      <p:sp>
        <p:nvSpPr>
          <p:cNvPr id="120" name="Google Shape;120;p22"/>
          <p:cNvSpPr txBox="1"/>
          <p:nvPr>
            <p:ph type="title"/>
          </p:nvPr>
        </p:nvSpPr>
        <p:spPr>
          <a:xfrm>
            <a:off x="3168000" y="555600"/>
            <a:ext cx="22836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Boost vs. Cut?</a:t>
            </a:r>
            <a:endParaRPr/>
          </a:p>
        </p:txBody>
      </p:sp>
      <p:sp>
        <p:nvSpPr>
          <p:cNvPr id="121" name="Google Shape;121;p22"/>
          <p:cNvSpPr txBox="1"/>
          <p:nvPr>
            <p:ph idx="1" type="body"/>
          </p:nvPr>
        </p:nvSpPr>
        <p:spPr>
          <a:xfrm>
            <a:off x="3168000" y="1389600"/>
            <a:ext cx="22836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 2) Were the </a:t>
            </a:r>
            <a:r>
              <a:rPr lang="en"/>
              <a:t>participant</a:t>
            </a:r>
            <a:r>
              <a:rPr lang="en"/>
              <a:t> better with detecting boost or cuts in frequencies?</a:t>
            </a:r>
            <a:endParaRPr/>
          </a:p>
          <a:p>
            <a:pPr indent="0" lvl="0" marL="0" rtl="0" algn="l">
              <a:spcBef>
                <a:spcPts val="1200"/>
              </a:spcBef>
              <a:spcAft>
                <a:spcPts val="0"/>
              </a:spcAft>
              <a:buNone/>
            </a:pPr>
            <a:r>
              <a:rPr lang="en"/>
              <a:t>Using the same </a:t>
            </a:r>
            <a:r>
              <a:rPr lang="en"/>
              <a:t>type</a:t>
            </a:r>
            <a:r>
              <a:rPr lang="en"/>
              <a:t> of ANOVA Test as before, we determined that participants did </a:t>
            </a:r>
            <a:r>
              <a:rPr lang="en"/>
              <a:t>perform significantly better with detecting Boost(</a:t>
            </a:r>
            <a:r>
              <a:rPr i="1" lang="en"/>
              <a:t>M = 0.36)</a:t>
            </a:r>
            <a:r>
              <a:rPr lang="en"/>
              <a:t> versus detecting Cuts(0.21), (</a:t>
            </a:r>
            <a:r>
              <a:rPr i="1" lang="en"/>
              <a:t>n = 360, p &lt; .001). Take out extra chart.</a:t>
            </a:r>
            <a:endParaRPr i="1"/>
          </a:p>
          <a:p>
            <a:pPr indent="0" lvl="0" marL="0" rtl="0" algn="l">
              <a:spcBef>
                <a:spcPts val="1200"/>
              </a:spcBef>
              <a:spcAft>
                <a:spcPts val="1200"/>
              </a:spcAft>
              <a:buNone/>
            </a:pPr>
            <a:r>
              <a:t/>
            </a:r>
            <a:endParaRPr/>
          </a:p>
        </p:txBody>
      </p:sp>
      <p:sp>
        <p:nvSpPr>
          <p:cNvPr id="122" name="Google Shape;122;p22"/>
          <p:cNvSpPr txBox="1"/>
          <p:nvPr>
            <p:ph type="title"/>
          </p:nvPr>
        </p:nvSpPr>
        <p:spPr>
          <a:xfrm>
            <a:off x="5564400" y="555600"/>
            <a:ext cx="32679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BACK TO THE CHART</a:t>
            </a:r>
            <a:endParaRPr/>
          </a:p>
        </p:txBody>
      </p:sp>
      <p:sp>
        <p:nvSpPr>
          <p:cNvPr id="123" name="Google Shape;123;p22"/>
          <p:cNvSpPr txBox="1"/>
          <p:nvPr>
            <p:ph idx="1" type="body"/>
          </p:nvPr>
        </p:nvSpPr>
        <p:spPr>
          <a:xfrm>
            <a:off x="60561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i="1"/>
          </a:p>
        </p:txBody>
      </p:sp>
      <p:pic>
        <p:nvPicPr>
          <p:cNvPr id="124" name="Google Shape;124;p22"/>
          <p:cNvPicPr preferRelativeResize="0"/>
          <p:nvPr/>
        </p:nvPicPr>
        <p:blipFill>
          <a:blip r:embed="rId3">
            <a:alphaModFix/>
          </a:blip>
          <a:stretch>
            <a:fillRect/>
          </a:stretch>
        </p:blipFill>
        <p:spPr>
          <a:xfrm>
            <a:off x="247200" y="4209500"/>
            <a:ext cx="2808000" cy="571543"/>
          </a:xfrm>
          <a:prstGeom prst="rect">
            <a:avLst/>
          </a:prstGeom>
          <a:noFill/>
          <a:ln>
            <a:noFill/>
          </a:ln>
        </p:spPr>
      </p:pic>
      <p:pic>
        <p:nvPicPr>
          <p:cNvPr id="125" name="Google Shape;125;p22"/>
          <p:cNvPicPr preferRelativeResize="0"/>
          <p:nvPr/>
        </p:nvPicPr>
        <p:blipFill>
          <a:blip r:embed="rId4">
            <a:alphaModFix/>
          </a:blip>
          <a:stretch>
            <a:fillRect/>
          </a:stretch>
        </p:blipFill>
        <p:spPr>
          <a:xfrm>
            <a:off x="5564400" y="1479350"/>
            <a:ext cx="3267901" cy="340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1000"/>
                                        <p:tgtEl>
                                          <p:spTgt spid="11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Threshold</a:t>
            </a:r>
            <a:endParaRPr/>
          </a:p>
        </p:txBody>
      </p:sp>
      <p:sp>
        <p:nvSpPr>
          <p:cNvPr id="131" name="Google Shape;131;p23"/>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fontScale="85000"/>
          </a:bodyPr>
          <a:lstStyle/>
          <a:p>
            <a:pPr indent="0" lvl="0" marL="457200" rtl="0" algn="l">
              <a:lnSpc>
                <a:spcPct val="115000"/>
              </a:lnSpc>
              <a:spcBef>
                <a:spcPts val="0"/>
              </a:spcBef>
              <a:spcAft>
                <a:spcPts val="1200"/>
              </a:spcAft>
              <a:buNone/>
            </a:pPr>
            <a:r>
              <a:rPr lang="en" sz="1800">
                <a:solidFill>
                  <a:schemeClr val="accent6"/>
                </a:solidFill>
              </a:rPr>
              <a:t>Where does the threshold lie for a listener’s ability to hear and identify the level of boosts and cuts at various frequencies within samples of pink noise?</a:t>
            </a:r>
            <a:endParaRPr/>
          </a:p>
        </p:txBody>
      </p:sp>
      <p:sp>
        <p:nvSpPr>
          <p:cNvPr id="132" name="Google Shape;132;p23"/>
          <p:cNvSpPr txBox="1"/>
          <p:nvPr>
            <p:ph idx="2" type="body"/>
          </p:nvPr>
        </p:nvSpPr>
        <p:spPr>
          <a:xfrm>
            <a:off x="4625275" y="796800"/>
            <a:ext cx="4203300" cy="912900"/>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0"/>
              </a:spcAft>
              <a:buNone/>
            </a:pPr>
            <a:r>
              <a:rPr lang="en" sz="4400"/>
              <a:t>After observing the chart below we decided to compare the top three scores to one another since all three average scores were above 50%.</a:t>
            </a:r>
            <a:endParaRPr sz="4400"/>
          </a:p>
          <a:p>
            <a:pPr indent="0" lvl="0" marL="0" rtl="0" algn="l">
              <a:spcBef>
                <a:spcPts val="1200"/>
              </a:spcBef>
              <a:spcAft>
                <a:spcPts val="0"/>
              </a:spcAft>
              <a:buNone/>
            </a:pPr>
            <a:r>
              <a:rPr lang="en" sz="4400"/>
              <a:t>We ran an ANOVA comparing headphones and loudspeakers based on the top three scores which were all +8dB stimuli.</a:t>
            </a:r>
            <a:endParaRPr sz="4400"/>
          </a:p>
          <a:p>
            <a:pPr indent="0" lvl="0" marL="0" rtl="0" algn="l">
              <a:spcBef>
                <a:spcPts val="1200"/>
              </a:spcBef>
              <a:spcAft>
                <a:spcPts val="0"/>
              </a:spcAft>
              <a:buNone/>
            </a:pPr>
            <a:r>
              <a:rPr lang="en" sz="4400"/>
              <a:t>We found that using the data from the top three frequency and dB levels, headphones and loudspeakers performed the best at 500 Hz Boost +8dB.</a:t>
            </a:r>
            <a:endParaRPr sz="4400"/>
          </a:p>
          <a:p>
            <a:pPr indent="0" lvl="0" marL="0" rtl="0" algn="l">
              <a:spcBef>
                <a:spcPts val="1200"/>
              </a:spcBef>
              <a:spcAft>
                <a:spcPts val="0"/>
              </a:spcAft>
              <a:buNone/>
            </a:pPr>
            <a:r>
              <a:rPr lang="en" sz="4400"/>
              <a:t> Headphones also performed slightly better than Loudspeakers </a:t>
            </a:r>
            <a:r>
              <a:rPr i="1" lang="en" sz="4400"/>
              <a:t>(p=.056)</a:t>
            </a:r>
            <a:r>
              <a:rPr lang="en" sz="4400"/>
              <a:t>. </a:t>
            </a:r>
            <a:endParaRPr sz="44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33" name="Google Shape;133;p23"/>
          <p:cNvPicPr preferRelativeResize="0"/>
          <p:nvPr/>
        </p:nvPicPr>
        <p:blipFill>
          <a:blip r:embed="rId3">
            <a:alphaModFix/>
          </a:blip>
          <a:stretch>
            <a:fillRect/>
          </a:stretch>
        </p:blipFill>
        <p:spPr>
          <a:xfrm>
            <a:off x="5043900" y="3239525"/>
            <a:ext cx="3732600" cy="1785175"/>
          </a:xfrm>
          <a:prstGeom prst="rect">
            <a:avLst/>
          </a:prstGeom>
          <a:noFill/>
          <a:ln>
            <a:noFill/>
          </a:ln>
        </p:spPr>
      </p:pic>
      <p:pic>
        <p:nvPicPr>
          <p:cNvPr id="134" name="Google Shape;134;p23"/>
          <p:cNvPicPr preferRelativeResize="0"/>
          <p:nvPr/>
        </p:nvPicPr>
        <p:blipFill>
          <a:blip r:embed="rId4">
            <a:alphaModFix/>
          </a:blip>
          <a:stretch>
            <a:fillRect/>
          </a:stretch>
        </p:blipFill>
        <p:spPr>
          <a:xfrm>
            <a:off x="5129475" y="2098850"/>
            <a:ext cx="3333750" cy="106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Threshold Cont.</a:t>
            </a:r>
            <a:endParaRPr/>
          </a:p>
          <a:p>
            <a:pPr indent="0" lvl="0" marL="0" rtl="0" algn="ctr">
              <a:spcBef>
                <a:spcPts val="0"/>
              </a:spcBef>
              <a:spcAft>
                <a:spcPts val="0"/>
              </a:spcAft>
              <a:buNone/>
            </a:pPr>
            <a:r>
              <a:t/>
            </a:r>
            <a:endParaRPr/>
          </a:p>
        </p:txBody>
      </p:sp>
      <p:sp>
        <p:nvSpPr>
          <p:cNvPr id="140" name="Google Shape;140;p24"/>
          <p:cNvSpPr txBox="1"/>
          <p:nvPr>
            <p:ph idx="2" type="body"/>
          </p:nvPr>
        </p:nvSpPr>
        <p:spPr>
          <a:xfrm>
            <a:off x="4925825" y="0"/>
            <a:ext cx="3837000" cy="25563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rPr lang="en"/>
              <a:t>We continued to further compare the top 3 Scores in the Chart Below with each other.</a:t>
            </a:r>
            <a:endParaRPr/>
          </a:p>
          <a:p>
            <a:pPr indent="-325755" lvl="0" marL="457200" rtl="0" algn="l">
              <a:spcBef>
                <a:spcPts val="1200"/>
              </a:spcBef>
              <a:spcAft>
                <a:spcPts val="0"/>
              </a:spcAft>
              <a:buSzPct val="100000"/>
              <a:buChar char="●"/>
            </a:pPr>
            <a:r>
              <a:rPr lang="en"/>
              <a:t>Using Wilcoxon Paired Tests, it was determined that…</a:t>
            </a:r>
            <a:endParaRPr/>
          </a:p>
          <a:p>
            <a:pPr indent="-325755" lvl="0" marL="457200" rtl="0" algn="l">
              <a:spcBef>
                <a:spcPts val="0"/>
              </a:spcBef>
              <a:spcAft>
                <a:spcPts val="0"/>
              </a:spcAft>
              <a:buSzPct val="100000"/>
              <a:buChar char="●"/>
            </a:pPr>
            <a:r>
              <a:rPr lang="en"/>
              <a:t>1kHz Boost +8dB vs 1kHz Boost +6dB : Not </a:t>
            </a:r>
            <a:r>
              <a:rPr lang="en"/>
              <a:t>significant</a:t>
            </a:r>
            <a:r>
              <a:rPr lang="en"/>
              <a:t> (p&gt;0.05</a:t>
            </a:r>
            <a:r>
              <a:rPr lang="en"/>
              <a:t>)</a:t>
            </a:r>
            <a:endParaRPr/>
          </a:p>
          <a:p>
            <a:pPr indent="-325755" lvl="0" marL="457200" rtl="0" algn="l">
              <a:spcBef>
                <a:spcPts val="0"/>
              </a:spcBef>
              <a:spcAft>
                <a:spcPts val="0"/>
              </a:spcAft>
              <a:buSzPct val="100000"/>
              <a:buChar char="●"/>
            </a:pPr>
            <a:r>
              <a:rPr lang="en"/>
              <a:t>250 Hz Boost +8dB vs 1kHz Boost +8dB : Not significant (p&gt;0.05)</a:t>
            </a:r>
            <a:endParaRPr/>
          </a:p>
          <a:p>
            <a:pPr indent="-325755" lvl="0" marL="457200" rtl="0" algn="l">
              <a:spcBef>
                <a:spcPts val="0"/>
              </a:spcBef>
              <a:spcAft>
                <a:spcPts val="0"/>
              </a:spcAft>
              <a:buSzPct val="100000"/>
              <a:buChar char="●"/>
            </a:pPr>
            <a:r>
              <a:rPr lang="en"/>
              <a:t>500 Hz Boost +8dB vs 250 Hz Boost +8dB : Not significant (p&gt;0.05)</a:t>
            </a:r>
            <a:endParaRPr/>
          </a:p>
        </p:txBody>
      </p:sp>
      <p:sp>
        <p:nvSpPr>
          <p:cNvPr id="141" name="Google Shape;141;p24"/>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fontScale="85000"/>
          </a:bodyPr>
          <a:lstStyle/>
          <a:p>
            <a:pPr indent="0" lvl="0" marL="457200" rtl="0" algn="l">
              <a:lnSpc>
                <a:spcPct val="115000"/>
              </a:lnSpc>
              <a:spcBef>
                <a:spcPts val="0"/>
              </a:spcBef>
              <a:spcAft>
                <a:spcPts val="1200"/>
              </a:spcAft>
              <a:buNone/>
            </a:pPr>
            <a:r>
              <a:rPr lang="en" sz="1800">
                <a:solidFill>
                  <a:schemeClr val="accent6"/>
                </a:solidFill>
              </a:rPr>
              <a:t>Where does the threshold lie for a listener’s ability to hear and identify the level of boosts and cuts at various frequencies within samples of pink noise?</a:t>
            </a:r>
            <a:endParaRPr>
              <a:solidFill>
                <a:schemeClr val="accent6"/>
              </a:solidFill>
            </a:endParaRPr>
          </a:p>
        </p:txBody>
      </p:sp>
      <p:pic>
        <p:nvPicPr>
          <p:cNvPr id="142" name="Google Shape;142;p24"/>
          <p:cNvPicPr preferRelativeResize="0"/>
          <p:nvPr/>
        </p:nvPicPr>
        <p:blipFill>
          <a:blip r:embed="rId3">
            <a:alphaModFix/>
          </a:blip>
          <a:stretch>
            <a:fillRect/>
          </a:stretch>
        </p:blipFill>
        <p:spPr>
          <a:xfrm>
            <a:off x="5379475" y="2571750"/>
            <a:ext cx="3267901" cy="2541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1000"/>
                                        <p:tgtEl>
                                          <p:spTgt spid="13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465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Threshold cont…</a:t>
            </a:r>
            <a:endParaRPr/>
          </a:p>
        </p:txBody>
      </p:sp>
      <p:sp>
        <p:nvSpPr>
          <p:cNvPr id="148" name="Google Shape;148;p25"/>
          <p:cNvSpPr txBox="1"/>
          <p:nvPr>
            <p:ph idx="1" type="body"/>
          </p:nvPr>
        </p:nvSpPr>
        <p:spPr>
          <a:xfrm>
            <a:off x="311700" y="1118225"/>
            <a:ext cx="51429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o With those results we began to develop a sense of where the threshold may lie…</a:t>
            </a:r>
            <a:endParaRPr/>
          </a:p>
          <a:p>
            <a:pPr indent="-317183" lvl="0" marL="457200" rtl="0" algn="l">
              <a:spcBef>
                <a:spcPts val="0"/>
              </a:spcBef>
              <a:spcAft>
                <a:spcPts val="0"/>
              </a:spcAft>
              <a:buSzPct val="100000"/>
              <a:buChar char="●"/>
            </a:pPr>
            <a:r>
              <a:rPr lang="en"/>
              <a:t>Even though the data shows no </a:t>
            </a:r>
            <a:r>
              <a:rPr lang="en"/>
              <a:t>significance</a:t>
            </a:r>
            <a:r>
              <a:rPr lang="en"/>
              <a:t> when </a:t>
            </a:r>
            <a:r>
              <a:rPr lang="en"/>
              <a:t>comparing</a:t>
            </a:r>
            <a:r>
              <a:rPr lang="en"/>
              <a:t> the data to one another, we assume based on the drastic jump in score between 500 Hz Boost +8dB and the rest of the top scores that this may be the threshold for running this experiment.</a:t>
            </a:r>
            <a:endParaRPr/>
          </a:p>
          <a:p>
            <a:pPr indent="-317182" lvl="1" marL="914400" rtl="0" algn="l">
              <a:spcBef>
                <a:spcPts val="0"/>
              </a:spcBef>
              <a:spcAft>
                <a:spcPts val="0"/>
              </a:spcAft>
              <a:buSzPct val="100000"/>
              <a:buChar char="○"/>
            </a:pPr>
            <a:r>
              <a:rPr lang="en" sz="1800"/>
              <a:t>With this newly placed threshold set, we decided to compare Headphone and Loudspeaker using a Wilcoxon Paired Test.</a:t>
            </a:r>
            <a:endParaRPr sz="1800"/>
          </a:p>
          <a:p>
            <a:pPr indent="-317182" lvl="2" marL="1371600" rtl="0" algn="l">
              <a:spcBef>
                <a:spcPts val="0"/>
              </a:spcBef>
              <a:spcAft>
                <a:spcPts val="0"/>
              </a:spcAft>
              <a:buSzPct val="100000"/>
              <a:buChar char="■"/>
            </a:pPr>
            <a:r>
              <a:rPr lang="en" sz="1800"/>
              <a:t>When comparing Headphone and Loudspeaker with a 8dB boost at 500Hz, we found that there is still no significant difference between the two </a:t>
            </a:r>
            <a:r>
              <a:rPr i="1" lang="en" sz="1800"/>
              <a:t>(Z = -0.6, n = 29, p &gt; .05).</a:t>
            </a:r>
            <a:endParaRPr i="1" sz="1800">
              <a:solidFill>
                <a:schemeClr val="dk1"/>
              </a:solidFill>
            </a:endParaRPr>
          </a:p>
        </p:txBody>
      </p:sp>
      <p:pic>
        <p:nvPicPr>
          <p:cNvPr id="149" name="Google Shape;149;p25"/>
          <p:cNvPicPr preferRelativeResize="0"/>
          <p:nvPr/>
        </p:nvPicPr>
        <p:blipFill>
          <a:blip r:embed="rId3">
            <a:alphaModFix/>
          </a:blip>
          <a:stretch>
            <a:fillRect/>
          </a:stretch>
        </p:blipFill>
        <p:spPr>
          <a:xfrm>
            <a:off x="6038275" y="773550"/>
            <a:ext cx="2470725" cy="392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
                                        </p:tgtEl>
                                        <p:attrNameLst>
                                          <p:attrName>style.visibility</p:attrName>
                                        </p:attrNameLst>
                                      </p:cBhvr>
                                      <p:to>
                                        <p:strVal val="visible"/>
                                      </p:to>
                                    </p:set>
                                    <p:anim calcmode="lin" valueType="num">
                                      <p:cBhvr additive="base">
                                        <p:cTn dur="1000"/>
                                        <p:tgtEl>
                                          <p:spTgt spid="1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 calcmode="lin" valueType="num">
                                      <p:cBhvr additive="base">
                                        <p:cTn dur="1000"/>
                                        <p:tgtEl>
                                          <p:spTgt spid="14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 calcmode="lin" valueType="num">
                                      <p:cBhvr additive="base">
                                        <p:cTn dur="1000"/>
                                        <p:tgtEl>
                                          <p:spTgt spid="14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 calcmode="lin" valueType="num">
                                      <p:cBhvr additive="base">
                                        <p:cTn dur="1000"/>
                                        <p:tgtEl>
                                          <p:spTgt spid="14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anim calcmode="lin" valueType="num">
                                      <p:cBhvr additive="base">
                                        <p:cTn dur="1000"/>
                                        <p:tgtEl>
                                          <p:spTgt spid="14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a:t>
            </a:r>
            <a:r>
              <a:rPr lang="en"/>
              <a:t>and</a:t>
            </a:r>
            <a:r>
              <a:rPr lang="en"/>
              <a:t> Conclusion</a:t>
            </a:r>
            <a:endParaRPr/>
          </a:p>
        </p:txBody>
      </p:sp>
      <p:sp>
        <p:nvSpPr>
          <p:cNvPr id="155" name="Google Shape;15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With the results gathered, we were able to answer our research questions.</a:t>
            </a:r>
            <a:endParaRPr/>
          </a:p>
          <a:p>
            <a:pPr indent="-342900" lvl="0" marL="457200" rtl="0" algn="l">
              <a:spcBef>
                <a:spcPts val="0"/>
              </a:spcBef>
              <a:spcAft>
                <a:spcPts val="0"/>
              </a:spcAft>
              <a:buSzPts val="1800"/>
              <a:buChar char="●"/>
            </a:pPr>
            <a:r>
              <a:rPr lang="en"/>
              <a:t>What do they suggest about the perception of audio? </a:t>
            </a:r>
            <a:endParaRPr/>
          </a:p>
          <a:p>
            <a:pPr indent="-317500" lvl="1" marL="914400" rtl="0" algn="l">
              <a:spcBef>
                <a:spcPts val="0"/>
              </a:spcBef>
              <a:spcAft>
                <a:spcPts val="0"/>
              </a:spcAft>
              <a:buSzPts val="1400"/>
              <a:buChar char="○"/>
            </a:pPr>
            <a:r>
              <a:rPr lang="en"/>
              <a:t>As far as frequency detection goes, it is clear that participants could better identify Boosts over Cuts. Whether or not they were wearing headphones or listening through loudspeakers made little to no difference on that result.  </a:t>
            </a:r>
            <a:endParaRPr/>
          </a:p>
          <a:p>
            <a:pPr indent="-342900" lvl="0" marL="457200" rtl="0" algn="l">
              <a:spcBef>
                <a:spcPts val="0"/>
              </a:spcBef>
              <a:spcAft>
                <a:spcPts val="0"/>
              </a:spcAft>
              <a:buSzPts val="1800"/>
              <a:buChar char="●"/>
            </a:pPr>
            <a:r>
              <a:rPr lang="en"/>
              <a:t>How can this help audio engineering? </a:t>
            </a:r>
            <a:endParaRPr/>
          </a:p>
          <a:p>
            <a:pPr indent="-317500" lvl="1" marL="914400" rtl="0" algn="l">
              <a:spcBef>
                <a:spcPts val="0"/>
              </a:spcBef>
              <a:spcAft>
                <a:spcPts val="0"/>
              </a:spcAft>
              <a:buSzPts val="1400"/>
              <a:buChar char="○"/>
            </a:pPr>
            <a:r>
              <a:rPr lang="en"/>
              <a:t>This research can help in ways of helping beginners making more informed decisions purchasing audio equipment.</a:t>
            </a:r>
            <a:endParaRPr/>
          </a:p>
          <a:p>
            <a:pPr indent="-317500" lvl="1" marL="914400" rtl="0" algn="l">
              <a:spcBef>
                <a:spcPts val="0"/>
              </a:spcBef>
              <a:spcAft>
                <a:spcPts val="0"/>
              </a:spcAft>
              <a:buSzPts val="1400"/>
              <a:buChar char="○"/>
            </a:pPr>
            <a:r>
              <a:rPr lang="en"/>
              <a:t>Supports the argument that you can get just as good of a sense mixing in either of the two environments; at least frequency detection wise(same principle would seem to apply for general music listening consumers as well).</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1000"/>
                                        <p:tgtEl>
                                          <p:spTgt spid="15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Research </a:t>
            </a:r>
            <a:endParaRPr/>
          </a:p>
        </p:txBody>
      </p:sp>
      <p:sp>
        <p:nvSpPr>
          <p:cNvPr id="161" name="Google Shape;16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Limitations of our design</a:t>
            </a:r>
            <a:endParaRPr/>
          </a:p>
          <a:p>
            <a:pPr indent="-325755" lvl="1" marL="914400" rtl="0" algn="l">
              <a:spcBef>
                <a:spcPts val="0"/>
              </a:spcBef>
              <a:spcAft>
                <a:spcPts val="0"/>
              </a:spcAft>
              <a:buSzPct val="100000"/>
              <a:buChar char="○"/>
            </a:pPr>
            <a:r>
              <a:rPr lang="en" sz="1800"/>
              <a:t>1.  Structure of the Question(using a 5 choice scale vs. same or different scale)</a:t>
            </a:r>
            <a:endParaRPr sz="1800"/>
          </a:p>
          <a:p>
            <a:pPr indent="-325755" lvl="1" marL="914400" rtl="0" algn="l">
              <a:spcBef>
                <a:spcPts val="0"/>
              </a:spcBef>
              <a:spcAft>
                <a:spcPts val="0"/>
              </a:spcAft>
              <a:buSzPct val="100000"/>
              <a:buChar char="○"/>
            </a:pPr>
            <a:r>
              <a:rPr lang="en" sz="1800"/>
              <a:t>2.  Did the Chairs move?? </a:t>
            </a:r>
            <a:r>
              <a:rPr lang="en" sz="1800"/>
              <a:t>*Give the reasoning behind this statement*</a:t>
            </a:r>
            <a:endParaRPr sz="1800"/>
          </a:p>
          <a:p>
            <a:pPr indent="-325755" lvl="1" marL="914400" rtl="0" algn="l">
              <a:spcBef>
                <a:spcPts val="0"/>
              </a:spcBef>
              <a:spcAft>
                <a:spcPts val="0"/>
              </a:spcAft>
              <a:buSzPct val="100000"/>
              <a:buChar char="○"/>
            </a:pPr>
            <a:r>
              <a:rPr lang="en" sz="1800"/>
              <a:t>3.  Uneven distribution of HP vs. LSP data points(occuring in randomization of trials)</a:t>
            </a:r>
            <a:endParaRPr/>
          </a:p>
          <a:p>
            <a:pPr indent="-325755" lvl="0" marL="457200" rtl="0" algn="l">
              <a:spcBef>
                <a:spcPts val="0"/>
              </a:spcBef>
              <a:spcAft>
                <a:spcPts val="0"/>
              </a:spcAft>
              <a:buSzPct val="100000"/>
              <a:buChar char="●"/>
            </a:pPr>
            <a:r>
              <a:rPr lang="en"/>
              <a:t>Ways this research could have been improved or continued with more research</a:t>
            </a:r>
            <a:endParaRPr/>
          </a:p>
          <a:p>
            <a:pPr indent="-325755" lvl="1" marL="914400" rtl="0" algn="l">
              <a:spcBef>
                <a:spcPts val="0"/>
              </a:spcBef>
              <a:spcAft>
                <a:spcPts val="0"/>
              </a:spcAft>
              <a:buSzPct val="100000"/>
              <a:buChar char="○"/>
            </a:pPr>
            <a:r>
              <a:rPr lang="en" sz="1800"/>
              <a:t>1. Having a better idea of a threshold for the experiment.</a:t>
            </a:r>
            <a:endParaRPr sz="1800"/>
          </a:p>
          <a:p>
            <a:pPr indent="-325755" lvl="1" marL="914400" rtl="0" algn="l">
              <a:spcBef>
                <a:spcPts val="0"/>
              </a:spcBef>
              <a:spcAft>
                <a:spcPts val="0"/>
              </a:spcAft>
              <a:buSzPct val="100000"/>
              <a:buChar char="○"/>
            </a:pPr>
            <a:r>
              <a:rPr lang="en" sz="1800"/>
              <a:t>2. Using specific groups</a:t>
            </a:r>
            <a:endParaRPr sz="1800"/>
          </a:p>
          <a:p>
            <a:pPr indent="-325755" lvl="1" marL="914400" rtl="0" algn="l">
              <a:spcBef>
                <a:spcPts val="0"/>
              </a:spcBef>
              <a:spcAft>
                <a:spcPts val="0"/>
              </a:spcAft>
              <a:buSzPct val="100000"/>
              <a:buChar char="○"/>
            </a:pPr>
            <a:r>
              <a:rPr lang="en" sz="1800"/>
              <a:t>3. Prior training</a:t>
            </a:r>
            <a:endParaRPr sz="1800"/>
          </a:p>
          <a:p>
            <a:pPr indent="-325755" lvl="1" marL="914400" rtl="0" algn="l">
              <a:spcBef>
                <a:spcPts val="0"/>
              </a:spcBef>
              <a:spcAft>
                <a:spcPts val="0"/>
              </a:spcAft>
              <a:buSzPct val="100000"/>
              <a:buChar char="○"/>
            </a:pPr>
            <a:r>
              <a:rPr lang="en" sz="1800"/>
              <a:t>4. Testing using more of a same/different model to hopefully gain higher accuracy scores to compare.</a:t>
            </a:r>
            <a:endParaRPr sz="1800"/>
          </a:p>
          <a:p>
            <a:pPr indent="-325755" lvl="1" marL="914400" rtl="0" algn="l">
              <a:spcBef>
                <a:spcPts val="0"/>
              </a:spcBef>
              <a:spcAft>
                <a:spcPts val="0"/>
              </a:spcAft>
              <a:buSzPct val="100000"/>
              <a:buChar char="○"/>
            </a:pPr>
            <a:r>
              <a:rPr lang="en" sz="1800"/>
              <a:t>5.  HP vs. LSP on detecting distortion, reverb, spacial, etc. </a:t>
            </a:r>
            <a:endParaRPr sz="1800"/>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 calcmode="lin" valueType="num">
                                      <p:cBhvr additive="base">
                                        <p:cTn dur="1000"/>
                                        <p:tgtEl>
                                          <p:spTgt spid="16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 calcmode="lin" valueType="num">
                                      <p:cBhvr additive="base">
                                        <p:cTn dur="1000"/>
                                        <p:tgtEl>
                                          <p:spTgt spid="16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 calcmode="lin" valueType="num">
                                      <p:cBhvr additive="base">
                                        <p:cTn dur="1000"/>
                                        <p:tgtEl>
                                          <p:spTgt spid="16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 calcmode="lin" valueType="num">
                                      <p:cBhvr additive="base">
                                        <p:cTn dur="1000"/>
                                        <p:tgtEl>
                                          <p:spTgt spid="16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 calcmode="lin" valueType="num">
                                      <p:cBhvr additive="base">
                                        <p:cTn dur="1000"/>
                                        <p:tgtEl>
                                          <p:spTgt spid="16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 calcmode="lin" valueType="num">
                                      <p:cBhvr additive="base">
                                        <p:cTn dur="1000"/>
                                        <p:tgtEl>
                                          <p:spTgt spid="161">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 calcmode="lin" valueType="num">
                                      <p:cBhvr additive="base">
                                        <p:cTn dur="1000"/>
                                        <p:tgtEl>
                                          <p:spTgt spid="161">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 calcmode="lin" valueType="num">
                                      <p:cBhvr additive="base">
                                        <p:cTn dur="1000"/>
                                        <p:tgtEl>
                                          <p:spTgt spid="161">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anim calcmode="lin" valueType="num">
                                      <p:cBhvr additive="base">
                                        <p:cTn dur="1000"/>
                                        <p:tgtEl>
                                          <p:spTgt spid="161">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9" st="9"/>
                                            </p:txEl>
                                          </p:spTgt>
                                        </p:tgtEl>
                                        <p:attrNameLst>
                                          <p:attrName>style.visibility</p:attrName>
                                        </p:attrNameLst>
                                      </p:cBhvr>
                                      <p:to>
                                        <p:strVal val="visible"/>
                                      </p:to>
                                    </p:set>
                                    <p:anim calcmode="lin" valueType="num">
                                      <p:cBhvr additive="base">
                                        <p:cTn dur="1000"/>
                                        <p:tgtEl>
                                          <p:spTgt spid="161">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1">
                                            <p:txEl>
                                              <p:pRg end="10" st="10"/>
                                            </p:txEl>
                                          </p:spTgt>
                                        </p:tgtEl>
                                        <p:attrNameLst>
                                          <p:attrName>style.visibility</p:attrName>
                                        </p:attrNameLst>
                                      </p:cBhvr>
                                      <p:to>
                                        <p:strVal val="visible"/>
                                      </p:to>
                                    </p:set>
                                    <p:anim calcmode="lin" valueType="num">
                                      <p:cBhvr additive="base">
                                        <p:cTn dur="1000"/>
                                        <p:tgtEl>
                                          <p:spTgt spid="161">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167" name="Google Shape;16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t>[1] V. Koehl, M. Paquier and S. Delikaris-Manias, "Comparison of Subjective Assessments Obtained from Listening Tests through Headphones and Loudspeaker Setups," in </a:t>
            </a:r>
            <a:r>
              <a:rPr i="1" lang="en" sz="1200"/>
              <a:t>Journal of Audio Engineering Society Paper 8560</a:t>
            </a:r>
            <a:r>
              <a:rPr lang="en" sz="1200"/>
              <a:t>, October 2011. </a:t>
            </a:r>
            <a:endParaRPr sz="1200"/>
          </a:p>
          <a:p>
            <a:pPr indent="0" lvl="0" marL="0" rtl="0" algn="l">
              <a:spcBef>
                <a:spcPts val="0"/>
              </a:spcBef>
              <a:spcAft>
                <a:spcPts val="0"/>
              </a:spcAft>
              <a:buNone/>
            </a:pPr>
            <a:r>
              <a:rPr lang="en" sz="1200"/>
              <a:t>[2] R. King, B. Leonard and G. Sokora, "Loudspeakers and Headphones: The Effects on Playback Systems of Listening Test Subjects," in </a:t>
            </a:r>
            <a:r>
              <a:rPr i="1" lang="en" sz="1200"/>
              <a:t>The Journal of the Acoustical Society of America </a:t>
            </a:r>
            <a:r>
              <a:rPr lang="en" sz="1200"/>
              <a:t>, Montreal, Canada DOI: 10.1121/1.4799550, June. 2-7 2013. </a:t>
            </a:r>
            <a:endParaRPr sz="1200"/>
          </a:p>
          <a:p>
            <a:pPr indent="0" lvl="0" marL="0" rtl="0" algn="l">
              <a:spcBef>
                <a:spcPts val="0"/>
              </a:spcBef>
              <a:spcAft>
                <a:spcPts val="0"/>
              </a:spcAft>
              <a:buNone/>
            </a:pPr>
            <a:r>
              <a:rPr lang="en" sz="1200"/>
              <a:t>[3] S. Flanagan, C. B. Moore and M. A. Stone, "Discrimination of Group Delay in Click-like Signals Presented via Headphones and Loudspeakers," </a:t>
            </a:r>
            <a:r>
              <a:rPr i="1" lang="en" sz="1200"/>
              <a:t>Journal of Audio Engineering Society, </a:t>
            </a:r>
            <a:r>
              <a:rPr lang="en" sz="1200"/>
              <a:t>vol. 53, no. 7-8, pp. 593-611, July 2005. </a:t>
            </a:r>
            <a:endParaRPr sz="1200"/>
          </a:p>
          <a:p>
            <a:pPr indent="0" lvl="0" marL="0" rtl="0" algn="l">
              <a:spcBef>
                <a:spcPts val="0"/>
              </a:spcBef>
              <a:spcAft>
                <a:spcPts val="0"/>
              </a:spcAft>
              <a:buNone/>
            </a:pPr>
            <a:r>
              <a:rPr lang="en" sz="1200"/>
              <a:t>[4] B. Bauer, "Stereophonic Earphones and Binaural Loudspeakers," </a:t>
            </a:r>
            <a:r>
              <a:rPr i="1" lang="en" sz="1200"/>
              <a:t>Journal of Audio Engineering Society, </a:t>
            </a:r>
            <a:r>
              <a:rPr lang="en" sz="1200"/>
              <a:t>vol. 9, no. 2, pp. 148-151, April 1961. </a:t>
            </a:r>
            <a:endParaRPr sz="1200"/>
          </a:p>
          <a:p>
            <a:pPr indent="0" lvl="0" marL="0" rtl="0" algn="l">
              <a:spcBef>
                <a:spcPts val="0"/>
              </a:spcBef>
              <a:spcAft>
                <a:spcPts val="0"/>
              </a:spcAft>
              <a:buNone/>
            </a:pPr>
            <a:r>
              <a:rPr lang="en" sz="1200"/>
              <a:t>[5] J. Berg, T. Johannesson, M. Löfdahl and A. Nykanen, "In-Ear vs. Loudspeaker Monitoring for Live Sound and the Effect on Audio Quality Attributed and Musical Performance," in </a:t>
            </a:r>
            <a:r>
              <a:rPr i="1" lang="en" sz="1200"/>
              <a:t>Advances in Fundamental and Applied Research on Spatial Audio Doi: 10.5772/intechopen.10485</a:t>
            </a:r>
            <a:r>
              <a:rPr lang="en" sz="1200"/>
              <a:t>, May 2017. </a:t>
            </a:r>
            <a:endParaRPr sz="1200"/>
          </a:p>
          <a:p>
            <a:pPr indent="0" lvl="0" marL="0" rtl="0" algn="l">
              <a:spcBef>
                <a:spcPts val="0"/>
              </a:spcBef>
              <a:spcAft>
                <a:spcPts val="0"/>
              </a:spcAft>
              <a:buNone/>
            </a:pPr>
            <a:r>
              <a:rPr lang="en" sz="1200"/>
              <a:t>[6] T. Cox, P. D'Antonio and M. R. Avis, ""Room Sizing and Optimization at Low Frequencies," </a:t>
            </a:r>
            <a:r>
              <a:rPr i="1" lang="en" sz="1200"/>
              <a:t>Journal of Audio Engineering Society, </a:t>
            </a:r>
            <a:r>
              <a:rPr lang="en" sz="1200"/>
              <a:t>vol. 52, no. 6, pp. 640-651, June 2004. </a:t>
            </a:r>
            <a:endParaRPr sz="1200"/>
          </a:p>
          <a:p>
            <a:pPr indent="0" lvl="0" marL="0" rtl="0" algn="l">
              <a:spcBef>
                <a:spcPts val="0"/>
              </a:spcBef>
              <a:spcAft>
                <a:spcPts val="0"/>
              </a:spcAft>
              <a:buNone/>
            </a:pPr>
            <a:r>
              <a:rPr lang="en" sz="1200"/>
              <a:t>[7] S. Guttenburg, "What's more accurate: Speakers or Headphones," C-Net Productions, 16 April 2016. [Online]. Available: https://www.cnet.com/tech/mobile/whats-more-accurate-speakers-or-headphones/. [Accessed 25 February 2023].</a:t>
            </a:r>
            <a:endParaRPr sz="1200"/>
          </a:p>
          <a:p>
            <a:pPr indent="0" lvl="0" marL="0" rtl="0" algn="l">
              <a:spcBef>
                <a:spcPts val="0"/>
              </a:spcBef>
              <a:spcAft>
                <a:spcPts val="0"/>
              </a:spcAft>
              <a:buNone/>
            </a:pPr>
            <a:r>
              <a:rPr lang="en" sz="1200"/>
              <a:t>[8] M. Mizumachi, R. Yamamoto and K. Niyada, "Subjective Evaluation of High Resolution Audio through Headphones," in </a:t>
            </a:r>
            <a:r>
              <a:rPr i="1" lang="en" sz="1200"/>
              <a:t>Journal of Audio Engineering Society Paper 9529</a:t>
            </a:r>
            <a:r>
              <a:rPr lang="en" sz="1200"/>
              <a:t>, May 2016.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1000"/>
                                        <p:tgtEl>
                                          <p:spTgt spid="16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